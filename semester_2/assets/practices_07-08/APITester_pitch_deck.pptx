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2b6907d6f4bd5" /><Relationship Type="http://schemas.openxmlformats.org/officeDocument/2006/relationships/extended-properties" Target="/docProps/app.xml" Id="R8c1ef1a6caf749f9" /><Relationship Type="http://schemas.openxmlformats.org/officeDocument/2006/relationships/officeDocument" Target="/ppt/presentation.xml" Id="Rebd7f1aca7dc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c686299bf4680"/>
  </p:sldMasterIdLst>
  <p:notesMasterIdLst>
    <p:notesMasterId xmlns:r="http://schemas.openxmlformats.org/officeDocument/2006/relationships" r:id="Rba1fe0d529e14ff0"/>
  </p:notesMasterIdLst>
  <p:sldIdLst>
    <p:sldId xmlns:r="http://schemas.openxmlformats.org/officeDocument/2006/relationships" id="256" r:id="Re615f709a2d64ae7"/>
    <p:sldId xmlns:r="http://schemas.openxmlformats.org/officeDocument/2006/relationships" id="257" r:id="R5356b0ec52c6466a"/>
    <p:sldId xmlns:r="http://schemas.openxmlformats.org/officeDocument/2006/relationships" id="258" r:id="Rbfa7374038c04b11"/>
    <p:sldId xmlns:r="http://schemas.openxmlformats.org/officeDocument/2006/relationships" id="259" r:id="R0533b468d69c4bc9"/>
    <p:sldId xmlns:r="http://schemas.openxmlformats.org/officeDocument/2006/relationships" id="260" r:id="Rc1f42d2bbb8047d4"/>
    <p:sldId xmlns:r="http://schemas.openxmlformats.org/officeDocument/2006/relationships" id="261" r:id="Rb4db44136e9a43f8"/>
    <p:sldId xmlns:r="http://schemas.openxmlformats.org/officeDocument/2006/relationships" id="262" r:id="Rd1efeede36a44e62"/>
    <p:sldId xmlns:r="http://schemas.openxmlformats.org/officeDocument/2006/relationships" id="263" r:id="R14d7953ba11f4251"/>
    <p:sldId xmlns:r="http://schemas.openxmlformats.org/officeDocument/2006/relationships" id="264" r:id="Ra7291ac3be324f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7486767bd64e0a" /><Relationship Type="http://schemas.openxmlformats.org/officeDocument/2006/relationships/slideMaster" Target="/ppt/slideMasters/slideMaster1.xml" Id="Rafbc686299bf4680" /><Relationship Type="http://schemas.openxmlformats.org/officeDocument/2006/relationships/notesMaster" Target="/ppt/notesMasters/notesMaster1.xml" Id="Rba1fe0d529e14ff0" /><Relationship Type="http://schemas.openxmlformats.org/officeDocument/2006/relationships/presProps" Target="/ppt/presProps.xml" Id="R6f84fea673314e90" /><Relationship Type="http://schemas.openxmlformats.org/officeDocument/2006/relationships/tableStyles" Target="/ppt/tableStyles.xml" Id="R7722a74a32b54ab2" /><Relationship Type="http://schemas.openxmlformats.org/officeDocument/2006/relationships/slide" Target="/ppt/slides/slide1.xml" Id="Re615f709a2d64ae7" /><Relationship Type="http://schemas.openxmlformats.org/officeDocument/2006/relationships/slide" Target="/ppt/slides/slide2.xml" Id="R5356b0ec52c6466a" /><Relationship Type="http://schemas.openxmlformats.org/officeDocument/2006/relationships/slide" Target="/ppt/slides/slide3.xml" Id="Rbfa7374038c04b11" /><Relationship Type="http://schemas.openxmlformats.org/officeDocument/2006/relationships/slide" Target="/ppt/slides/slide4.xml" Id="R0533b468d69c4bc9" /><Relationship Type="http://schemas.openxmlformats.org/officeDocument/2006/relationships/slide" Target="/ppt/slides/slide5.xml" Id="Rc1f42d2bbb8047d4" /><Relationship Type="http://schemas.openxmlformats.org/officeDocument/2006/relationships/slide" Target="/ppt/slides/slide6.xml" Id="Rb4db44136e9a43f8" /><Relationship Type="http://schemas.openxmlformats.org/officeDocument/2006/relationships/slide" Target="/ppt/slides/slide7.xml" Id="Rd1efeede36a44e62" /><Relationship Type="http://schemas.openxmlformats.org/officeDocument/2006/relationships/slide" Target="/ppt/slides/slide8.xml" Id="R14d7953ba11f4251" /><Relationship Type="http://schemas.openxmlformats.org/officeDocument/2006/relationships/slide" Target="/ppt/slides/slide9.xml" Id="Ra7291ac3be324f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28380c40a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ITester">
      <a:dk1>
        <a:srgbClr val="000000"/>
      </a:dk1>
      <a:lt1>
        <a:srgbClr val="FFFFFF"/>
      </a:lt1>
      <a:dk2>
        <a:srgbClr val="172235"/>
      </a:dk2>
      <a:lt2>
        <a:srgbClr val="E2E7EE"/>
      </a:lt2>
      <a:accent1>
        <a:srgbClr val="15803D"/>
      </a:accent1>
      <a:accent2>
        <a:srgbClr val="0B1220"/>
      </a:accent2>
      <a:accent3>
        <a:srgbClr val="B45309"/>
      </a:accent3>
      <a:accent4>
        <a:srgbClr val="C62828"/>
      </a:accent4>
      <a:accent5>
        <a:srgbClr val="46536A"/>
      </a:accent5>
      <a:accent6>
        <a:srgbClr val="22C55E"/>
      </a:accent6>
      <a:hlink>
        <a:srgbClr val="15803D"/>
      </a:hlink>
      <a:folHlink>
        <a:srgbClr val="15803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ITe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143b04d56145e3" /><Relationship Type="http://schemas.openxmlformats.org/officeDocument/2006/relationships/notesMaster" Target="/ppt/notesMasters/notesMaster1.xml" Id="R1a7c4673f71a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5bd9c5c6ac4aa6" /><Relationship Type="http://schemas.openxmlformats.org/officeDocument/2006/relationships/notesMaster" Target="/ppt/notesMasters/notesMaster1.xml" Id="R061b8cb660ea4b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17c9eab2744cc" /><Relationship Type="http://schemas.openxmlformats.org/officeDocument/2006/relationships/notesMaster" Target="/ppt/notesMasters/notesMaster1.xml" Id="R0dd965bb79a248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8bfbbf730647c7" /><Relationship Type="http://schemas.openxmlformats.org/officeDocument/2006/relationships/notesMaster" Target="/ppt/notesMasters/notesMaster1.xml" Id="R556a64111ec843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e11880fef34f62" /><Relationship Type="http://schemas.openxmlformats.org/officeDocument/2006/relationships/notesMaster" Target="/ppt/notesMasters/notesMaster1.xml" Id="R53967f0e5f80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ff532bcc94166" /><Relationship Type="http://schemas.openxmlformats.org/officeDocument/2006/relationships/notesMaster" Target="/ppt/notesMasters/notesMaster1.xml" Id="Rfb04ab4c859a4a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4666dac04e4138" /><Relationship Type="http://schemas.openxmlformats.org/officeDocument/2006/relationships/notesMaster" Target="/ppt/notesMasters/notesMaster1.xml" Id="Rdcd31dc84bf4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aa033fadf34ed9" /><Relationship Type="http://schemas.openxmlformats.org/officeDocument/2006/relationships/notesMaster" Target="/ppt/notesMasters/notesMaster1.xml" Id="R4ba7d76cc19140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4d05984b9e4135" /><Relationship Type="http://schemas.openxmlformats.org/officeDocument/2006/relationships/notesMaster" Target="/ppt/notesMasters/notesMaster1.xml" Id="R1d7b73981ef644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Тезис: APITester сокращает путь от OpenAPI-описания до исполняемого набора тестов.</a:t>
            </a:r>
          </a:p>
          <a:p xmlns:a="http://schemas.openxmlformats.org/drawingml/2006/main">
            <a:r>
              <a:t>Источник: https://apitester.ru/ (проверено 28.09.2026).</a:t>
            </a:r>
          </a:p>
          <a:p xmlns:a="http://schemas.openxmlformats.org/drawingml/2006/main">
            <a:r>
              <a:t>Источник: startup/semester_2/practices_01-02.md.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Начать с стоимости ручного сопровождения тестов, а не с перечисления функций продукта.</a:t>
            </a:r>
          </a:p>
          <a:p xmlns:a="http://schemas.openxmlformats.org/drawingml/2006/main">
            <a:r>
              <a:t>Источник: startup/semester_1/practices_05-06.md.</a:t>
            </a:r>
          </a:p>
          <a:p xmlns:a="http://schemas.openxmlformats.org/drawingml/2006/main">
            <a:r>
              <a:t>Источник: startup/semester_2/practices_03-04.md.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цепочку на одном примере: оформление заказа с оплатой и отменой.</a:t>
            </a:r>
          </a:p>
          <a:p xmlns:a="http://schemas.openxmlformats.org/drawingml/2006/main">
            <a:r>
              <a:t>Источник: https://apitester.ru/#flow (проверено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заявлять платящих клиентов или выручку: таких подтверждённых данных в материалах нет.</a:t>
            </a:r>
          </a:p>
          <a:p xmlns:a="http://schemas.openxmlformats.org/drawingml/2006/main">
            <a:r>
              <a:t>Источник: https://apitester.ru/ (проверено 28.09.2026).</a:t>
            </a:r>
          </a:p>
          <a:p xmlns:a="http://schemas.openxmlformats.org/drawingml/2006/main">
            <a:r>
              <a:t>Источник: frontend/src/views/LandingView.vue.</a:t>
            </a:r>
          </a:p>
          <a:p xmlns:a="http://schemas.openxmlformats.org/drawingml/2006/main">
            <a:r>
              <a:t>Данные о хостинге Timeweb Cloud предоставлены командой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Гипотетический инвестор: бизнес-ангел или pre-seed фонд с опытом B2B SaaS и devtools.</a:t>
            </a:r>
          </a:p>
          <a:p xmlns:a="http://schemas.openxmlformats.org/drawingml/2006/main">
            <a:r>
              <a:t>Источник: startup/semester_1/practices_05-06.md.</a:t>
            </a:r>
          </a:p>
          <a:p xmlns:a="http://schemas.openxmlformats.org/drawingml/2006/main">
            <a:r>
              <a:t>Источник: startup/semester_1/practices_27-28.md.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защите проговорить, что матрица показывает текущую продуктовую позицию, а не полный аудит всех тарифов конкурентов.</a:t>
            </a:r>
          </a:p>
          <a:p xmlns:a="http://schemas.openxmlformats.org/drawingml/2006/main">
            <a:r>
              <a:t>Источник: https://apitester.ru/#compare (проверено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выдавать прогноз за фактический MRR.</a:t>
            </a:r>
          </a:p>
          <a:p xmlns:a="http://schemas.openxmlformats.org/drawingml/2006/main">
            <a:r>
              <a:t>Источник: startup/semester_1/practices_23-24.md, строки 85-114.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указана в соответствии с текущим README проекта.</a:t>
            </a:r>
          </a:p>
          <a:p xmlns:a="http://schemas.openxmlformats.org/drawingml/2006/main">
            <a:r>
              <a:t>Источник: startup/readme.md.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Сумма и распределение являются предложением для учебной презентации, а не объявленным инвестиционным раундом.</a:t>
            </a:r>
          </a:p>
          <a:p xmlns:a="http://schemas.openxmlformats.org/drawingml/2006/main">
            <a:r>
              <a:t>Цель: довести продукт до повторяемых пилотов и подтвердить платёжеспособный спрос.</a:t>
            </a:r>
          </a:p>
          <a:p xmlns:a="http://schemas.openxmlformats.org/drawingml/2006/main">
            <a:r>
              <a:t>Источник продуктовых приоритетов: startup/semester_1/practices_27-28.md.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7b820edde4c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4ccd87d174b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bfe4b774447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6c7efb74646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b0a9add1d49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0cb54df0d4e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122DCF4-4CAC-49AE-B782-3965CD6A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4D59EC-9C47-42F6-AC9A-FDB519383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6A6100D-CBBB-4C65-8D41-4D80351635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5DC91C7-9FB6-43F9-AD52-A7A2CA1E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3177CF-5DE4-4694-B717-9FFA3A11E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1FDAFC-E6B0-4C9E-9C74-21A4BC9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7D29A8-BE14-43E8-9B83-60871B68C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5A037EE-CBA1-49A6-8480-DF94FBE2C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A5112A-FC6C-4B77-B876-18CA05E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033B3D-A4A2-407E-87B2-92517C298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07EBCA-4070-4860-90DA-664084548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E19864-80D2-475B-8E8D-2192055322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82482A3-0784-4EEF-9BA6-D335A58E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5B6113-6034-427E-BF1A-A3D11370E7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D58D67-7706-44EC-A451-CAD3072D6E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7fdb9f33424cd2" /><Relationship Type="http://schemas.openxmlformats.org/officeDocument/2006/relationships/slideLayout" Target="/ppt/slideLayouts/slideLayout1.xml" Id="Rd33d0d828a164a33" /><Relationship Type="http://schemas.openxmlformats.org/officeDocument/2006/relationships/slideLayout" Target="/ppt/slideLayouts/slideLayout2.xml" Id="R1ca37562fbba4836" /><Relationship Type="http://schemas.openxmlformats.org/officeDocument/2006/relationships/slideLayout" Target="/ppt/slideLayouts/slideLayout3.xml" Id="Rab1f05509bca4e69" /><Relationship Type="http://schemas.openxmlformats.org/officeDocument/2006/relationships/slideLayout" Target="/ppt/slideLayouts/slideLayout4.xml" Id="R3f0dd372b2bd480c" /><Relationship Type="http://schemas.openxmlformats.org/officeDocument/2006/relationships/slideLayout" Target="/ppt/slideLayouts/slideLayout5.xml" Id="R53a3e990df3b41bf" /><Relationship Type="http://schemas.openxmlformats.org/officeDocument/2006/relationships/slideLayout" Target="/ppt/slideLayouts/slideLayout6.xml" Id="Reb747e9e2335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3d0d828a164a33"/>
    <p:sldLayoutId xmlns:r="http://schemas.openxmlformats.org/officeDocument/2006/relationships" id="2147483650" r:id="R1ca37562fbba4836"/>
    <p:sldLayoutId xmlns:r="http://schemas.openxmlformats.org/officeDocument/2006/relationships" id="2147483651" r:id="Rab1f05509bca4e69"/>
    <p:sldLayoutId xmlns:r="http://schemas.openxmlformats.org/officeDocument/2006/relationships" id="2147483652" r:id="R3f0dd372b2bd480c"/>
    <p:sldLayoutId xmlns:r="http://schemas.openxmlformats.org/officeDocument/2006/relationships" id="2147483653" r:id="R53a3e990df3b41bf"/>
    <p:sldLayoutId xmlns:r="http://schemas.openxmlformats.org/officeDocument/2006/relationships" id="2147483654" r:id="Reb747e9e2335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ITester">
      <a:dk1>
        <a:srgbClr val="000000"/>
      </a:dk1>
      <a:lt1>
        <a:srgbClr val="FFFFFF"/>
      </a:lt1>
      <a:dk2>
        <a:srgbClr val="172235"/>
      </a:dk2>
      <a:lt2>
        <a:srgbClr val="E2E7EE"/>
      </a:lt2>
      <a:accent1>
        <a:srgbClr val="15803D"/>
      </a:accent1>
      <a:accent2>
        <a:srgbClr val="0B1220"/>
      </a:accent2>
      <a:accent3>
        <a:srgbClr val="B45309"/>
      </a:accent3>
      <a:accent4>
        <a:srgbClr val="C62828"/>
      </a:accent4>
      <a:accent5>
        <a:srgbClr val="46536A"/>
      </a:accent5>
      <a:accent6>
        <a:srgbClr val="22C55E"/>
      </a:accent6>
      <a:hlink>
        <a:srgbClr val="15803D"/>
      </a:hlink>
      <a:folHlink>
        <a:srgbClr val="15803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ITe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53f2c73f94e6c" /><Relationship Type="http://schemas.openxmlformats.org/officeDocument/2006/relationships/image" Target="/ppt/media/image.png" Id="R7d59d8f5d3a0439d" /><Relationship Type="http://schemas.openxmlformats.org/officeDocument/2006/relationships/image" Target="/ppt/media/image2.png" Id="Rc51313abd6ae44c7" /><Relationship Type="http://schemas.openxmlformats.org/officeDocument/2006/relationships/notesSlide" Target="/ppt/notesSlides/notesSlide1.xml" Id="R06d818b6b271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3f99b82384cc6" /><Relationship Type="http://schemas.openxmlformats.org/officeDocument/2006/relationships/notesSlide" Target="/ppt/notesSlides/notesSlide2.xml" Id="Rb74ad0eb0dbb48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c82b9043541a1" /><Relationship Type="http://schemas.openxmlformats.org/officeDocument/2006/relationships/notesSlide" Target="/ppt/notesSlides/notesSlide3.xml" Id="R788ce54b43f548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2eb4446784053" /><Relationship Type="http://schemas.openxmlformats.org/officeDocument/2006/relationships/notesSlide" Target="/ppt/notesSlides/notesSlide4.xml" Id="Rd83b2a7a2fd241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a93f0663d439e" /><Relationship Type="http://schemas.openxmlformats.org/officeDocument/2006/relationships/notesSlide" Target="/ppt/notesSlides/notesSlide5.xml" Id="R8c680ef0502f4d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38184a3534d42" /><Relationship Type="http://schemas.openxmlformats.org/officeDocument/2006/relationships/notesSlide" Target="/ppt/notesSlides/notesSlide6.xml" Id="Ra2ebb3db8b9546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4914c32e74274" /><Relationship Type="http://schemas.openxmlformats.org/officeDocument/2006/relationships/chart" Target="/ppt/slides/charts/chart1.xml" Id="R93de5cc0d23a4a34" /><Relationship Type="http://schemas.openxmlformats.org/officeDocument/2006/relationships/notesSlide" Target="/ppt/notesSlides/notesSlide7.xml" Id="R8ce48aed6b2340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2100d5eae4735" /><Relationship Type="http://schemas.openxmlformats.org/officeDocument/2006/relationships/notesSlide" Target="/ppt/notesSlides/notesSlide8.xml" Id="R07d56f67526244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bae00d2984659" /><Relationship Type="http://schemas.openxmlformats.org/officeDocument/2006/relationships/chart" Target="/ppt/slides/charts/chart2.xml" Id="Re3712daa67dc41d3" /><Relationship Type="http://schemas.openxmlformats.org/officeDocument/2006/relationships/notesSlide" Target="/ppt/notesSlides/notesSlide9.xml" Id="Red5db279265647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MRR, тыс. ₽</c:v>
          </c:tx>
          <c:spPr>
            <a:solidFill xmlns:a="http://schemas.openxmlformats.org/drawingml/2006/main">
              <a:srgbClr val="15803D"/>
            </a:solidFill>
          </c:spPr>
          <c:cat>
            <c:strRef>
              <c:f>'Chart Data'!$A$2:$A$4</c:f>
              <c:strCache>
                <c:ptCount val="3"/>
                <c:pt idx="0">
                  <c:v>Консервативный</c:v>
                </c:pt>
                <c:pt idx="1">
                  <c:v>Базовый</c:v>
                </c:pt>
                <c:pt idx="2">
                  <c:v>Оптимистичный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200</c:v>
                </c:pt>
                <c:pt idx="1">
                  <c:v>750</c:v>
                </c:pt>
                <c:pt idx="2">
                  <c:v>1570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FFFFF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  <a:prstDash val="solid"/>
            </a:ln>
          </c:spPr>
        </c:majorGridlines>
        <c:numFmt formatCode="0&quot; тыс. ₽&quot;"/>
        <c:majorTickMark val="none"/>
        <c:minorTickMark val="none"/>
        <c:spPr>
          <a:ln xmlns:a="http://schemas.openxmlformats.org/drawingml/2006/main" w="9525">
            <a:solidFill>
              <a:srgbClr val="E2E7E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A7688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7E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A"/>
        </a:solidFill>
      </c:spPr>
    </c:plotArea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Распределение</c:v>
          </c:tx>
          <c:dPt>
            <c:idx val="0"/>
            <c:spPr>
              <a:solidFill xmlns:a="http://schemas.openxmlformats.org/drawingml/2006/main">
                <a:srgbClr val="22C55E"/>
              </a:solidFill>
            </c:spPr>
          </c:dPt>
          <c:dPt>
            <c:idx val="1"/>
            <c:spPr>
              <a:solidFill xmlns:a="http://schemas.openxmlformats.org/drawingml/2006/main">
                <a:srgbClr val="4ADE80"/>
              </a:solidFill>
            </c:spPr>
          </c:dPt>
          <c:dPt>
            <c:idx val="2"/>
            <c:spPr>
              <a:solidFill xmlns:a="http://schemas.openxmlformats.org/drawingml/2006/main">
                <a:srgbClr val="8794A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Продукт и инфраструктура</c:v>
                </c:pt>
                <c:pt idx="1">
                  <c:v>Продажи и маркетинг</c:v>
                </c:pt>
                <c:pt idx="2">
                  <c:v>Сопровождение и безопасность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6"/>
      </c:doughnutChart>
      <c:spPr>
        <a:solidFill xmlns:a="http://schemas.openxmlformats.org/drawingml/2006/main">
          <a:srgbClr val="0B1220"/>
        </a:solidFill>
      </c:spPr>
    </c:plotArea>
    <c:plotVisOnly val="1"/>
  </c:chart>
  <c:spPr>
    <a:solidFill xmlns:a="http://schemas.openxmlformats.org/drawingml/2006/main">
      <a:srgbClr val="0B122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9d8f5d3a0439d"/>
          <a:stretch xmlns:a="http://schemas.openxmlformats.org/drawingml/2006/main"/>
        </p:blipFill>
        <p:spPr>
          <a:xfrm xmlns:a="http://schemas.openxmlformats.org/drawingml/2006/main">
            <a:off x="685800" y="542840"/>
            <a:ext cx="2381250" cy="51452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26815-55AC-4D8F-92C1-43A6F2AA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ИНВЕСТИЦИОННЫЙ ПИТЧ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44894-2D92-465D-866A-824CE9A8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Проверь API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раньше 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4982E-74CE-4812-A469-5B3127E6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9D2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9D2DF"/>
                </a:solidFill>
                <a:latin typeface="Segoe UI"/>
                <a:ea typeface="Segoe UI"/>
                <a:cs typeface="Segoe UI"/>
              </a:rPr>
              <a:t>Платформа генерирует и запускает тесты API по OpenAPI-описанию.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9D2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9D2DF"/>
                </a:solidFill>
                <a:latin typeface="Segoe UI"/>
                <a:ea typeface="Segoe UI"/>
                <a:cs typeface="Segoe UI"/>
              </a:rPr>
              <a:t>Работает как веб-сервис или внутри контура заказчика.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8AED3-B1F8-4E70-8CFA-23405259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647950" cy="3714750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C39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313abd6ae44c7"/>
          <a:stretch xmlns:a="http://schemas.openxmlformats.org/drawingml/2006/main"/>
        </p:blipFill>
        <p:spPr>
          <a:xfrm xmlns:a="http://schemas.openxmlformats.org/drawingml/2006/main">
            <a:off x="9496425" y="201930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6E4FF-EC88-4C23-A592-985FD0B5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3 из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A1F67-BC30-4A69-B462-ECE4B5F8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672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вида тестирования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уже доступны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E97D3-B46B-4C5E-BA4A-A8107DC6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apitester.ru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A56C-B6F4-49B4-B135-A5F6F93C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9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566A5-72DE-4224-A197-0C0DA570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A346D-C387-4FA1-A03B-6538900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2131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5910D-632E-4A47-87BD-7E0A177A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CEC98-AB45-4B70-940F-D5D44335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6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Регрессионные API-тесты становятся отдельным проектом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4526-F909-453E-BFA5-6CD82A7C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28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2B5EE-F0AD-4247-A6AF-F8F94E5A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95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Ручная поддержка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4E486-F6CE-4184-86A0-BF9C3FB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642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Сценарии устаревают вместе с контрактами и релизами. Команда тратит время на ремонт тестовой базы.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A2EFF-FDDF-4731-9A1F-91EDF538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76525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053BA-8134-4667-B46C-818C4273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28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5F519-DDF1-48FB-A66B-7CD093CD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86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Разрозненные инструменты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1AC83-4F76-4C0D-8DE8-0F0AB916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86100"/>
            <a:ext cx="642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Модульные, интеграционные, сквозные и нагрузочные проверки живут в разных процессах.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4D743-8A28-4B66-80B3-99A6DACC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67175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16110-B759-4B99-8168-75F17A7B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28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8930B-011C-45F8-BC21-0F396BA1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76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Ограничения контура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31A4B-EA13-46A4-9E3F-DAD5E419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642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Банки, государственные организации и крупный бизнес не могут отправлять спецификации во внешние сервисы.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8A296-78F0-4333-BF37-C650007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776B9-60B2-4F5F-84E0-57C0CAA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C391E-A3B2-482C-9D38-32305C3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724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A26E2-E147-4B19-BA89-6B8F5D2B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4CCC0-BADD-422A-A1C5-2BB50FBE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От спецификации до разбора прогона за четыре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EFA63-6E8E-4CAA-B067-D7032722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514600" cy="31432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4882D-CB4C-43B0-9CCE-12584964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DAC41-BB29-42F3-A51A-F5A8DBAF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OpenAPI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246C7-BEAD-4CB0-9CE9-4219EEE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Загрузить контракт, адрес и параметры авторизации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B64B8-D0DF-43F0-A655-AF0D9832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765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EB670-95F3-4CA3-BC02-A898ABB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14600" cy="31432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D9D4D-5F97-4645-B037-1E30642B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12823-AB0D-493A-B1B9-97BF90D9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Задача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7EDF1-D877-4202-BB8E-82BC787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Описать пользовательский сценарий обычным текстом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6DE13-EC9A-444E-AFF7-1907CC8E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765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EC6B7-CA98-45DF-BBFB-2297EE0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514600" cy="31432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6B2FA-3192-4A6F-AD5B-4033A91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E336A-D0A1-4C90-9F5D-2F3AFB9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Сценарии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F79D5-5CC2-4D6A-BE8A-64FE3362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C9D2D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C9D2DF"/>
                </a:solidFill>
                <a:latin typeface="Segoe UI"/>
                <a:ea typeface="Segoe UI"/>
                <a:cs typeface="Segoe UI"/>
              </a:rPr>
              <a:t>Получить шаги, запросы и проверки с возможностью правки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645F6-A070-4471-BDCD-28CE4A6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765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5803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41888-C470-46F0-AEA9-3CAB4EC8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514600" cy="31432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63D94-735D-45B1-8479-AEEF1402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0C27F-1D9F-4DB4-93AA-B8C78166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Прогон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2708C-FF52-4197-A66D-69EA54B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9090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Запустить тесты и разобрать результат каждого шага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DA11C-CF4E-4E3B-8888-91A9A44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Один рабочий контур сохраняет спецификации, сценарии и историю запусков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181DC-D9FE-4F4B-BF28-8438EA04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54203-CC63-4491-ADBA-B2E6B9B2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B4044-F0CA-4708-9FCB-CF699377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9599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B0EBD-740E-48A7-A380-A3C3491E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ПРОДУКТ И СТАДИЯ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93B0B-5EB6-4C3C-A6F9-7F58307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Платформа работает и набирает пилотные 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6A899-2B38-47C2-BC10-B1346429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28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3 из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20A5B-CBB4-403A-9A35-6EE3E4E6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доступных вида тестов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FF3B7-D32C-4986-86D5-12AF13A1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62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B6C0C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6C0CF"/>
                </a:solidFill>
                <a:latin typeface="Segoe UI"/>
                <a:ea typeface="Segoe UI"/>
                <a:cs typeface="Segoe UI"/>
              </a:rPr>
              <a:t>Модульное, интеграционное и сквозное. Нагрузочное в разработке.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B328E-A4A4-4C66-B52C-6AE4B9E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28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OpenAPI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C8FB7-4854-49E7-BA4C-7C32C6CB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основа сценариев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B194C-2D0B-4C3A-9B93-A27C1E7F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3162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B6C0C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6C0CF"/>
                </a:solidFill>
                <a:latin typeface="Segoe UI"/>
                <a:ea typeface="Segoe UI"/>
                <a:cs typeface="Segoe UI"/>
              </a:rPr>
              <a:t>Сценарии можно редактировать перед запуском.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00C5B-719D-437A-9440-2673677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28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On-premise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EEAFB-3D80-43C8-8331-86E68469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3162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закрытый контур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2038D-70CE-4935-B69F-DB71E4F4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62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B6C0C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6C0CF"/>
                </a:solidFill>
                <a:latin typeface="Segoe UI"/>
                <a:ea typeface="Segoe UI"/>
                <a:cs typeface="Segoe UI"/>
              </a:rPr>
              <a:t>Спецификации и внутренние API остаются в инфраструктуре заказчика.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34133-FC66-4CD6-A649-D989291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744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C39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012EC-1065-484A-A2C3-78B8F0B4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1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apitester.ru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421D8-CF6E-40B4-9FD8-33509CFC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43525"/>
            <a:ext cx="773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8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Команда написала продукт на Vue 3 + FastAPI и разместила его в Timeweb Cloud.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064CA-54EA-4A79-B41B-A3BB5953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9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FD495-15BB-46F4-8F1A-A51A8211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C8314-53BD-4F40-B6B4-A76BB13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1383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A24C5-E877-4F41-986B-6F2FCF1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ЦЕЛЕВОЙ КЛИЕНТ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1535A-26B5-46CD-AB3F-F16B000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Средние и крупные продуктовые команды в России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7DA00-4AAF-4461-8862-6CE626B4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619750" cy="403860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908C7-1612-4DBD-AE6B-57B3900F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Пользователь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CC5DF-D271-4180-A3C9-549EF8A9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66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QA Automation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40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и backend-разработчик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E51BF-9677-4A71-94A2-35FDB06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09A2B-1BCC-414C-B380-A335DE65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Покупатель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76D1-0735-454E-9B0D-CD64DA43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QA-лид, CTO или руководитель разработки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2BEE2-0FE8-46C6-BFE9-E71EF74D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Критерий решения: экономия времени без передачи спецификаций наружу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A808F-2B2E-4D2D-A2CE-E29D0EDD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Контекст покупки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8BAF4-FFF8-4029-A3B5-6F327DD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18D5F-7967-47AD-9F63-793083BD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19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Частые релизы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961D0-7D5C-4D08-BCCF-39EEC15F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98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Регресс нужно запускать после каждого изменения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99F3C-F56B-4B95-B21B-B759EA3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45582-74B5-42AD-A8AF-D78BEC45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Сложная архитектура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25605-AA05-45F6-90B1-C2DD9984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147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Сценарии проходят через несколько сервисов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6CE9C-36EA-4B61-93CB-44035696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55E2C-C6F8-4C5F-A408-ED90F66D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29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Закрытый периметр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30C03-D25B-4553-84C7-3C12EEC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96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Облачные зарубежные инструменты не подходят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6590E-B78B-4B9D-8B86-B78464BA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A3E31-BEC9-4F3A-B6F9-085E970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F303F-8FCC-4CA3-A534-1FF61B25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3297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2AA21-D62F-42F7-B2CD-A410540C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КОНКУРЕНТЫ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EAB3A-47F3-40F0-9DF0-B40CB30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APITester объединяет три доступных типа тестов и закрытый контур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1485900"/>
                <a:gridCol w="1752600"/>
                <a:gridCol w="1485900"/>
                <a:gridCol w="1657350"/>
                <a:gridCol w="2000250"/>
              </a:tblGrid>
              <a:tr h="6096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Решение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Модульное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Интеграционное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Сквозное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Нагрузочное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On-premise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</a:tr>
              <a:tr h="6096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220"/>
                          </a:solidFill>
                          <a:latin typeface="Segoe UI"/>
                          <a:ea typeface="Segoe UI"/>
                          <a:cs typeface="Segoe UI"/>
                        </a:rPr>
                        <a:t>APITester</a:t>
                      </a:r>
                    </a:p>
                  </a:txBody>
                  <a:tcPr marL="91440" marR="91440" marT="45720" marB="45720" anchor="ctr">
                    <a:solidFill>
                      <a:srgbClr val="DDF7E7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DDF7E7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DDF7E7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DDF7E7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B45309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план</a:t>
                      </a:r>
                    </a:p>
                  </a:txBody>
                  <a:tcPr marL="91440" marR="91440" marT="45720" marB="45720" anchor="ctr">
                    <a:solidFill>
                      <a:srgbClr val="DDF7E7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DDF7E7"/>
                    </a:solidFill>
                  </a:tcPr>
                </a:tc>
              </a:tr>
              <a:tr h="6096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220"/>
                          </a:solidFill>
                          <a:latin typeface="Segoe UI"/>
                          <a:ea typeface="Segoe UI"/>
                          <a:cs typeface="Segoe UI"/>
                        </a:rPr>
                        <a:t>Postman / Newman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частично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</a:tr>
              <a:tr h="6096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220"/>
                          </a:solidFill>
                          <a:latin typeface="Segoe UI"/>
                          <a:ea typeface="Segoe UI"/>
                          <a:cs typeface="Segoe UI"/>
                        </a:rPr>
                        <a:t>Schemathesis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220"/>
                          </a:solidFill>
                          <a:latin typeface="Segoe UI"/>
                          <a:ea typeface="Segoe UI"/>
                          <a:cs typeface="Segoe UI"/>
                        </a:rPr>
                        <a:t>EvoMaster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6F8FA"/>
                    </a:solidFill>
                  </a:tcPr>
                </a:tc>
              </a:tr>
              <a:tr h="609600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B1220"/>
                          </a:solidFill>
                          <a:latin typeface="Segoe UI"/>
                          <a:ea typeface="Segoe UI"/>
                          <a:cs typeface="Segoe UI"/>
                        </a:rPr>
                        <a:t>Kusho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0B1220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есть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6A7688"/>
                          </a:solidFill>
                          <a:latin typeface="Cascadia Mono"/>
                          <a:ea typeface="Cascadia Mono"/>
                          <a:cs typeface="Cascadia Mono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2A3D0-EEB8-4971-B762-AF5A366B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A768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A7688"/>
                </a:solidFill>
                <a:latin typeface="Segoe UI"/>
                <a:ea typeface="Segoe UI"/>
                <a:cs typeface="Segoe UI"/>
              </a:rPr>
              <a:t>Сравнение отражает заявленные функции продуктов. Нагрузочное тестирование APITester пока находится в разработке.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C445B-9074-4100-93FD-09FFE1D5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AFE75-382F-4301-BDB5-C0B3BD9D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42C80-BEA6-4257-BBD4-5F4E6EB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1032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1C21F-9CE8-40D0-98C5-35BDF8A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БИЗНЕС-МОДЕЛЬ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4CEB7-4ED6-4661-997B-18A55DC3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Подписка, потребление и отдельный пилот для enterprise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A82E8-8CCF-4C1E-9CA7-123E859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Командная подписка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36B8D-5874-475C-B95E-854B73B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Базовый регулярный платёж за рабочее пространство и лимиты генерации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8E2AC-2FD4-4B03-8B30-608A7FF3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Pay-as-you-go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06327-0D74-4A35-A787-BB015AC0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Доплата за объём запросов и вычислений сверх тарифа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4DFA8-F7FF-4BC3-94F3-573AE03B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Пилот и on-premise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88B1B-6C69-4304-B541-C3C6880F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Отдельная оценка внедрения, интеграций и сопровождения закрытого контура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63AD6-835A-4611-B352-09F10F46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573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Плановые сценарии MRR через 12 месяцев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029200" y="2114550"/>
          <a:ext xmlns:a="http://schemas.openxmlformats.org/drawingml/2006/main" cx="647700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de5cc0d23a4a3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EA8BC-2DF0-45D9-9552-C09F5EF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197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A768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A7688"/>
                </a:solidFill>
                <a:latin typeface="Segoe UI"/>
                <a:ea typeface="Segoe UI"/>
                <a:cs typeface="Segoe UI"/>
              </a:rPr>
              <a:t>Гипотеза из финансового плана. Это целевые сценарии, а не текущая выручка.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B8E83-3590-4B21-B7BF-6A0C979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832EC-5D36-47CD-94FE-97B4AACA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1EDE3-F88D-48CC-A3DD-3EBD4197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600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33C00-A4C2-4937-88C8-20FC310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КОМАНДА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208CA-9FF0-49EE-B268-BF8E5A1F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Четыре участника закрывают разработку, аналитику и маркетинг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8DC83-ED28-49DA-91D1-93F2083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2007A-C9AB-49A6-A93E-4B990FE4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Алехин Михаил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EFB13-6419-493E-8B91-A50CAE6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383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Тимлид, разработка продукта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8F782-A67E-4BEA-99BF-18F2B29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918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09A19-0AC0-48A8-918C-CDC9E72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5B9F6-4D70-4705-A282-4DF7DB2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81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Павличенко Александр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FD18D-D8C9-4C7A-825A-36EFB6D2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9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Разработка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656E1-8D39-44A0-95FE-6BECBA4B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918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057E4-EDD9-4E5F-A60E-1F7C3B33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54158-2A60-42D0-AE56-5DED3C8F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52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Токарева Александра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0A63A-658B-4CBA-B1EB-1373951A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Аналитика и маркетинг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8D15B-E155-4E7A-A8AC-343C516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62450"/>
            <a:ext cx="918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70255-F0AC-47C3-8742-1C0D78A6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84D04-A5E1-4420-BC56-F277A604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Чуркина Анастасия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6E7B3-14A6-4C5A-A385-50FF3A5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529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65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6536A"/>
                </a:solidFill>
                <a:latin typeface="Segoe UI"/>
                <a:ea typeface="Segoe UI"/>
                <a:cs typeface="Segoe UI"/>
              </a:rPr>
              <a:t>Разработка и аналитика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5842C-928B-4555-8CD5-7C6E97FB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81650"/>
            <a:ext cx="9182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9525">
            <a:solidFill>
              <a:srgbClr val="B7E6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4FBB3-5CD3-49A1-9F44-4AA4FA93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76900"/>
            <a:ext cx="872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220"/>
                </a:solidFill>
                <a:latin typeface="Segoe UI"/>
                <a:ea typeface="Segoe UI"/>
                <a:cs typeface="Segoe UI"/>
              </a:rPr>
              <a:t>Зона усиления после раунда: продажи B2B и сопровождение пилотов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2F70E-A640-4C88-B461-88B68D5A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65F47-70B8-4251-82BF-7EE123A2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A768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95EFA-1BFF-4923-8B5B-76664C2F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5803D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7870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B04B0-1A0A-4E38-B991-19065D8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ИНВЕСТИЦИОННЫЙ ЗАПРОС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AF9DE-A28A-4B12-B52E-F4FC11A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 млн ₽ на 12 месяцев до повторяемых пилотов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DE9D9-1917-45BA-A856-748B4CA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rPr>
              <a:t>Предложение для учебного питча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38350"/>
          <a:ext xmlns:a="http://schemas.openxmlformats.org/drawingml/2006/main" cx="4572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712daa67dc41d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88C3-16A3-4C9E-81FA-099D8CE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255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45%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17020-518F-4327-A40E-E4DFFEE8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Стабильность генерации, нагрузочные тесты, CI/CD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255CB-4006-418D-90A3-EF828B4B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4ADE80"/>
                </a:solidFill>
                <a:latin typeface="Cascadia Mono"/>
                <a:ea typeface="Cascadia Mono"/>
                <a:cs typeface="Cascadia Mono"/>
              </a:defRPr>
            </a:pPr>
            <a:r>
              <a:rPr sz="2550" b="1">
                <a:solidFill>
                  <a:srgbClr val="4ADE80"/>
                </a:solidFill>
                <a:latin typeface="Cascadia Mono"/>
                <a:ea typeface="Cascadia Mono"/>
                <a:cs typeface="Cascadia Mono"/>
              </a:rPr>
              <a:t>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BC594-B428-4DED-BF19-94681A1F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Демо, контент, партнёрства и первые повторяемые продажи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3EE7F-01B1-47D0-98D4-30E813EE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8794A8"/>
                </a:solidFill>
                <a:latin typeface="Cascadia Mono"/>
                <a:ea typeface="Cascadia Mono"/>
                <a:cs typeface="Cascadia Mono"/>
              </a:defRPr>
            </a:pPr>
            <a:r>
              <a:rPr sz="2550" b="1">
                <a:solidFill>
                  <a:srgbClr val="8794A8"/>
                </a:solidFill>
                <a:latin typeface="Cascadia Mono"/>
                <a:ea typeface="Cascadia Mono"/>
                <a:cs typeface="Cascadia Mono"/>
              </a:rPr>
              <a:t>20%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050C5-5060-48F9-9BE6-691BC14F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Сопровождение пилотов, безопасность и юридическая 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70CEC-8902-48EC-BA76-A061D917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9700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9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E180E-2BD4-4D3F-A4F2-CE106FC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67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apitester.ru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72B6E-CA8F-45CD-A5A3-28217DC9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86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sales@apitester.ru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471C6-76C2-483D-AEAF-5DDF2A20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2BF29-75D2-4EC6-9045-D657ED55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8794A8"/>
                </a:solidFill>
                <a:latin typeface="Cascadia Mono"/>
                <a:ea typeface="Cascadia Mono"/>
                <a:cs typeface="Cascadia Mono"/>
              </a:rPr>
              <a:t>APITester · инвестиционный питч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4A401-0A8F-48D3-AC44-0AEC0F0A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2C55E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8825556"/>
      </p:ext>
    </p:extLst>
  </p:cSld>
</p:sld>
</file>

<file path=ppt/theme/theme1.xml><?xml version="1.0" encoding="utf-8"?>
<a:theme xmlns:a="http://schemas.openxmlformats.org/drawingml/2006/main" name="ChatGPT">
  <a:themeElements>
    <a:clrScheme name="APITester">
      <a:dk1>
        <a:srgbClr val="000000"/>
      </a:dk1>
      <a:lt1>
        <a:srgbClr val="FFFFFF"/>
      </a:lt1>
      <a:dk2>
        <a:srgbClr val="172235"/>
      </a:dk2>
      <a:lt2>
        <a:srgbClr val="E2E7EE"/>
      </a:lt2>
      <a:accent1>
        <a:srgbClr val="15803D"/>
      </a:accent1>
      <a:accent2>
        <a:srgbClr val="0B1220"/>
      </a:accent2>
      <a:accent3>
        <a:srgbClr val="B45309"/>
      </a:accent3>
      <a:accent4>
        <a:srgbClr val="C62828"/>
      </a:accent4>
      <a:accent5>
        <a:srgbClr val="46536A"/>
      </a:accent5>
      <a:accent6>
        <a:srgbClr val="22C55E"/>
      </a:accent6>
      <a:hlink>
        <a:srgbClr val="15803D"/>
      </a:hlink>
      <a:folHlink>
        <a:srgbClr val="15803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ITe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2026-09-28T18:00:09.1040000Z</dcterms:created>
  <dcterms:modified xsi:type="dcterms:W3CDTF">2026-09-28T18:00:09.1040000Z</dcterms:modified>
</coreProperties>
</file>